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4630400" cy="8229600"/>
  <p:notesSz cx="8229600" cy="14630400"/>
  <p:embeddedFontLst>
    <p:embeddedFont>
      <p:font typeface="Epilogue" panose="020B0604020202020204" charset="0"/>
      <p:regular r:id="rId12"/>
    </p:embeddedFont>
    <p:embeddedFont>
      <p:font typeface="Fraunces Medium" panose="020B0604020202020204" charset="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2T17:41:30.7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24575,'0'0'-8191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2T17:41:18.4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24575,'0'0'-8191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2T17:41:19.1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24575,'0'0'-8191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2T17:41:19.6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24575,'0'0'-8191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2T17:41:19.9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24575,'0'0'-8191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2T17:41:20.0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24575,'0'0'-8191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2T17:41:20.2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24575,'0'0'-8191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2T17:41:20.5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171685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Team - 
1) Sarvadnya Kshirsagar  -  1262252627
2) Surabhi  Haridas - 1262250657
3) Noureen Tak  - 1262251826
4) Tanay Dhoot - 1262252662
5) Sanidhya Choukse  - 1262251582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1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customXml" Target="../ink/ink7.xml"/><Relationship Id="rId3" Type="http://schemas.openxmlformats.org/officeDocument/2006/relationships/image" Target="../media/image1.png"/><Relationship Id="rId7" Type="http://schemas.openxmlformats.org/officeDocument/2006/relationships/customXml" Target="../ink/ink6.xml"/><Relationship Id="rId2" Type="http://schemas.openxmlformats.org/officeDocument/2006/relationships/customXml" Target="../ink/ink2.xml"/><Relationship Id="rId1" Type="http://schemas.openxmlformats.org/officeDocument/2006/relationships/slideMaster" Target="../slideMasters/slideMaster1.xml"/><Relationship Id="rId6" Type="http://schemas.openxmlformats.org/officeDocument/2006/relationships/customXml" Target="../ink/ink5.xml"/><Relationship Id="rId5" Type="http://schemas.openxmlformats.org/officeDocument/2006/relationships/customXml" Target="../ink/ink4.xml"/><Relationship Id="rId4" Type="http://schemas.openxmlformats.org/officeDocument/2006/relationships/customXml" Target="../ink/ink3.xml"/><Relationship Id="rId9" Type="http://schemas.openxmlformats.org/officeDocument/2006/relationships/customXml" Target="../ink/ink8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8AF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80E26"/>
          </a:solidFill>
          <a:ln/>
        </p:spPr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5751F321-6848-C8DE-F24C-FF0E06E235A2}"/>
                  </a:ext>
                </a:extLst>
              </p14:cNvPr>
              <p14:cNvContentPartPr/>
              <p14:nvPr userDrawn="1"/>
            </p14:nvContentPartPr>
            <p14:xfrm>
              <a:off x="12522758" y="5909909"/>
              <a:ext cx="360" cy="36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5751F321-6848-C8DE-F24C-FF0E06E235A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516638" y="5903789"/>
                <a:ext cx="12600" cy="126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8AF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80E26"/>
          </a:solidFill>
          <a:ln/>
        </p:spPr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8798F21-17B5-6340-A90C-1DB538FF8E44}"/>
              </a:ext>
            </a:extLst>
          </p:cNvPr>
          <p:cNvGrpSpPr/>
          <p:nvPr/>
        </p:nvGrpSpPr>
        <p:grpSpPr>
          <a:xfrm>
            <a:off x="13581878" y="7894949"/>
            <a:ext cx="360" cy="360"/>
            <a:chOff x="13581878" y="7894949"/>
            <a:chExt cx="360" cy="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451B7D36-0EA7-0F11-0CAF-FFF53C7B38E2}"/>
                    </a:ext>
                  </a:extLst>
                </p14:cNvPr>
                <p14:cNvContentPartPr/>
                <p14:nvPr userDrawn="1"/>
              </p14:nvContentPartPr>
              <p14:xfrm>
                <a:off x="13581878" y="7894949"/>
                <a:ext cx="360" cy="3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451B7D36-0EA7-0F11-0CAF-FFF53C7B38E2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3575758" y="7888829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8C8B7D59-6C7E-894C-E115-DE4447387F04}"/>
                    </a:ext>
                  </a:extLst>
                </p14:cNvPr>
                <p14:cNvContentPartPr/>
                <p14:nvPr userDrawn="1"/>
              </p14:nvContentPartPr>
              <p14:xfrm>
                <a:off x="13581878" y="7894949"/>
                <a:ext cx="360" cy="3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8C8B7D59-6C7E-894C-E115-DE4447387F04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3575758" y="7888829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1D00BCBC-C695-4CA4-6721-97B3DAAAD7CD}"/>
                    </a:ext>
                  </a:extLst>
                </p14:cNvPr>
                <p14:cNvContentPartPr/>
                <p14:nvPr userDrawn="1"/>
              </p14:nvContentPartPr>
              <p14:xfrm>
                <a:off x="13581878" y="7894949"/>
                <a:ext cx="360" cy="3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1D00BCBC-C695-4CA4-6721-97B3DAAAD7CD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3575758" y="7888829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3CCCB30B-22C0-EB2E-61FA-0DB37C5D9329}"/>
                    </a:ext>
                  </a:extLst>
                </p14:cNvPr>
                <p14:cNvContentPartPr/>
                <p14:nvPr userDrawn="1"/>
              </p14:nvContentPartPr>
              <p14:xfrm>
                <a:off x="13581878" y="7894949"/>
                <a:ext cx="360" cy="3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3CCCB30B-22C0-EB2E-61FA-0DB37C5D9329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3575758" y="7888829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76948965-706F-5E59-5452-5A705973B642}"/>
                    </a:ext>
                  </a:extLst>
                </p14:cNvPr>
                <p14:cNvContentPartPr/>
                <p14:nvPr userDrawn="1"/>
              </p14:nvContentPartPr>
              <p14:xfrm>
                <a:off x="13581878" y="7894949"/>
                <a:ext cx="360" cy="3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76948965-706F-5E59-5452-5A705973B642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3575758" y="7888829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24C4BB9E-9DAB-19E5-13E5-A371017635D8}"/>
                    </a:ext>
                  </a:extLst>
                </p14:cNvPr>
                <p14:cNvContentPartPr/>
                <p14:nvPr userDrawn="1"/>
              </p14:nvContentPartPr>
              <p14:xfrm>
                <a:off x="13581878" y="7894949"/>
                <a:ext cx="360" cy="3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24C4BB9E-9DAB-19E5-13E5-A371017635D8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3575758" y="7888829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AA593470-3E7F-DFC7-53EC-B45D6BB3ACEA}"/>
                    </a:ext>
                  </a:extLst>
                </p14:cNvPr>
                <p14:cNvContentPartPr/>
                <p14:nvPr userDrawn="1"/>
              </p14:nvContentPartPr>
              <p14:xfrm>
                <a:off x="13581878" y="7894949"/>
                <a:ext cx="360" cy="3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AA593470-3E7F-DFC7-53EC-B45D6BB3ACEA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3575758" y="7888829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8AF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80E26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8AF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80E26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8AF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80E26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8AF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80E26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8AF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80E26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8AF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80E26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A8AF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80E26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sv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16.sv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sv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Relationship Id="rId14" Type="http://schemas.openxmlformats.org/officeDocument/2006/relationships/image" Target="../media/image14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13" Type="http://schemas.openxmlformats.org/officeDocument/2006/relationships/image" Target="../media/image27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12" Type="http://schemas.openxmlformats.org/officeDocument/2006/relationships/image" Target="../media/image26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0.sv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0" Type="http://schemas.openxmlformats.org/officeDocument/2006/relationships/image" Target="../media/image24.svg"/><Relationship Id="rId4" Type="http://schemas.openxmlformats.org/officeDocument/2006/relationships/image" Target="../media/image18.svg"/><Relationship Id="rId9" Type="http://schemas.openxmlformats.org/officeDocument/2006/relationships/image" Target="../media/image23.png"/><Relationship Id="rId14" Type="http://schemas.openxmlformats.org/officeDocument/2006/relationships/image" Target="../media/image28.sv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80E26">
              <a:alpha val="8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793790" y="891302"/>
            <a:ext cx="866894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C  : The Mother of All Languages</a:t>
            </a:r>
            <a:endParaRPr lang="en-US" sz="4450" b="1" dirty="0"/>
          </a:p>
        </p:txBody>
      </p:sp>
      <p:sp>
        <p:nvSpPr>
          <p:cNvPr id="5" name="Text 2"/>
          <p:cNvSpPr/>
          <p:nvPr/>
        </p:nvSpPr>
        <p:spPr>
          <a:xfrm>
            <a:off x="793790" y="1940243"/>
            <a:ext cx="130428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200" b="1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Team :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3790" y="264890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1) Sarvadnya Kshirsagar  -  1262252627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793790" y="326695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2) Surabhi  Haridas - 1262250657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793790" y="3885009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3) Noureen Tak  - 1262251826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793790" y="450306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4) Tanay Dhoot - 1262252662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793790" y="512111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5) Sanidhya Choukse  - 1262251582 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793790" y="5739170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793790" y="635722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793790" y="6975277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Faculty : </a:t>
            </a: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Dr. Uma Pujeri  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46133"/>
            <a:ext cx="859512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Introduction to C Programming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608540"/>
            <a:ext cx="6407944" cy="1240393"/>
          </a:xfrm>
          <a:prstGeom prst="roundRect">
            <a:avLst>
              <a:gd name="adj" fmla="val 7680"/>
            </a:avLst>
          </a:prstGeom>
          <a:solidFill>
            <a:srgbClr val="080E26"/>
          </a:solidFill>
          <a:ln w="30480">
            <a:solidFill>
              <a:srgbClr val="8C98C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51084" y="2865834"/>
            <a:ext cx="589335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C is a general-purpose, procedural programming language.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7428548" y="2608540"/>
            <a:ext cx="6408063" cy="1240393"/>
          </a:xfrm>
          <a:prstGeom prst="roundRect">
            <a:avLst>
              <a:gd name="adj" fmla="val 7680"/>
            </a:avLst>
          </a:prstGeom>
          <a:solidFill>
            <a:srgbClr val="080E26"/>
          </a:solidFill>
          <a:ln w="30480">
            <a:solidFill>
              <a:srgbClr val="8C98C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5842" y="2865834"/>
            <a:ext cx="589347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It balances high-level programming features with low-level system control.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793790" y="4075748"/>
            <a:ext cx="6407944" cy="1240393"/>
          </a:xfrm>
          <a:prstGeom prst="roundRect">
            <a:avLst>
              <a:gd name="adj" fmla="val 7680"/>
            </a:avLst>
          </a:prstGeom>
          <a:solidFill>
            <a:srgbClr val="080E26"/>
          </a:solidFill>
          <a:ln w="30480">
            <a:solidFill>
              <a:srgbClr val="8C98C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084" y="4333042"/>
            <a:ext cx="589335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C is used to develop efficient and high-performance software.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7428548" y="4075748"/>
            <a:ext cx="6408063" cy="1240393"/>
          </a:xfrm>
          <a:prstGeom prst="roundRect">
            <a:avLst>
              <a:gd name="adj" fmla="val 7680"/>
            </a:avLst>
          </a:prstGeom>
          <a:solidFill>
            <a:srgbClr val="080E26"/>
          </a:solidFill>
          <a:ln w="30480">
            <a:solidFill>
              <a:srgbClr val="8C98C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85842" y="4333042"/>
            <a:ext cx="589347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It supports structured programming for better code organization.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793790" y="5542955"/>
            <a:ext cx="6407944" cy="1240393"/>
          </a:xfrm>
          <a:prstGeom prst="roundRect">
            <a:avLst>
              <a:gd name="adj" fmla="val 7680"/>
            </a:avLst>
          </a:prstGeom>
          <a:solidFill>
            <a:srgbClr val="080E26"/>
          </a:solidFill>
          <a:ln w="30480">
            <a:solidFill>
              <a:srgbClr val="8C98C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084" y="5800249"/>
            <a:ext cx="589335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C allows direct interaction with hardware through memory management.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7428548" y="5542955"/>
            <a:ext cx="6408063" cy="1240393"/>
          </a:xfrm>
          <a:prstGeom prst="roundRect">
            <a:avLst>
              <a:gd name="adj" fmla="val 7680"/>
            </a:avLst>
          </a:prstGeom>
          <a:solidFill>
            <a:srgbClr val="080E26"/>
          </a:solidFill>
          <a:ln w="30480">
            <a:solidFill>
              <a:srgbClr val="8C9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85842" y="5800249"/>
            <a:ext cx="589347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C6C9DC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C is known as the "Mother of All Programming Languages" due to its influence.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68956"/>
            <a:ext cx="1019734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Origin and History of C Programming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331363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Fraunces Light" pitchFamily="34" charset="0"/>
                <a:ea typeface="Fraunces Light" pitchFamily="34" charset="-122"/>
                <a:cs typeface="Fraunces Light" pitchFamily="34" charset="-120"/>
              </a:rPr>
              <a:t>01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2686407"/>
            <a:ext cx="6407944" cy="30480"/>
          </a:xfrm>
          <a:prstGeom prst="rect">
            <a:avLst/>
          </a:prstGeom>
          <a:solidFill>
            <a:srgbClr val="8C98CA"/>
          </a:solidFill>
          <a:ln/>
        </p:spPr>
      </p:sp>
      <p:sp>
        <p:nvSpPr>
          <p:cNvPr id="5" name="Text 3"/>
          <p:cNvSpPr/>
          <p:nvPr/>
        </p:nvSpPr>
        <p:spPr>
          <a:xfrm>
            <a:off x="793790" y="2860715"/>
            <a:ext cx="640794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C was developed in 1972 at Bell Laboratories by Dennis Ritchie.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428548" y="2331363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Fraunces Light" pitchFamily="34" charset="0"/>
                <a:ea typeface="Fraunces Light" pitchFamily="34" charset="-122"/>
                <a:cs typeface="Fraunces Light" pitchFamily="34" charset="-120"/>
              </a:rPr>
              <a:t>02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7428548" y="2686407"/>
            <a:ext cx="6408063" cy="30480"/>
          </a:xfrm>
          <a:prstGeom prst="rect">
            <a:avLst/>
          </a:prstGeom>
          <a:solidFill>
            <a:srgbClr val="8C98CA"/>
          </a:solidFill>
          <a:ln/>
        </p:spPr>
      </p:sp>
      <p:sp>
        <p:nvSpPr>
          <p:cNvPr id="8" name="Text 6"/>
          <p:cNvSpPr/>
          <p:nvPr/>
        </p:nvSpPr>
        <p:spPr>
          <a:xfrm>
            <a:off x="7428548" y="2860715"/>
            <a:ext cx="640806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It was originally created for system programming, particularly for developing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93790" y="3983355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Fraunces Light" pitchFamily="34" charset="0"/>
                <a:ea typeface="Fraunces Light" pitchFamily="34" charset="-122"/>
                <a:cs typeface="Fraunces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793790" y="4338399"/>
            <a:ext cx="6407944" cy="30480"/>
          </a:xfrm>
          <a:prstGeom prst="rect">
            <a:avLst/>
          </a:prstGeom>
          <a:solidFill>
            <a:srgbClr val="8C98CA"/>
          </a:solidFill>
          <a:ln/>
        </p:spPr>
      </p:sp>
      <p:sp>
        <p:nvSpPr>
          <p:cNvPr id="11" name="Text 9"/>
          <p:cNvSpPr/>
          <p:nvPr/>
        </p:nvSpPr>
        <p:spPr>
          <a:xfrm>
            <a:off x="793790" y="4512707"/>
            <a:ext cx="640794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C was designed to rewrite the UNIX operating system, replacing assembly language.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428548" y="3983355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Fraunces Light" pitchFamily="34" charset="0"/>
                <a:ea typeface="Fraunces Light" pitchFamily="34" charset="-122"/>
                <a:cs typeface="Fraunces Light" pitchFamily="34" charset="-120"/>
              </a:rPr>
              <a:t>04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7428548" y="4338399"/>
            <a:ext cx="6408063" cy="30480"/>
          </a:xfrm>
          <a:prstGeom prst="rect">
            <a:avLst/>
          </a:prstGeom>
          <a:solidFill>
            <a:srgbClr val="8C98CA"/>
          </a:solidFill>
          <a:ln/>
        </p:spPr>
      </p:sp>
      <p:sp>
        <p:nvSpPr>
          <p:cNvPr id="14" name="Text 12"/>
          <p:cNvSpPr/>
          <p:nvPr/>
        </p:nvSpPr>
        <p:spPr>
          <a:xfrm>
            <a:off x="7428548" y="4512707"/>
            <a:ext cx="640806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The language evolved from earlier languages such as BCPL and B.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93790" y="5635347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Fraunces Light" pitchFamily="34" charset="0"/>
                <a:ea typeface="Fraunces Light" pitchFamily="34" charset="-122"/>
                <a:cs typeface="Fraunces Light" pitchFamily="34" charset="-120"/>
              </a:rPr>
              <a:t>05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793790" y="5990392"/>
            <a:ext cx="6407944" cy="30480"/>
          </a:xfrm>
          <a:prstGeom prst="rect">
            <a:avLst/>
          </a:prstGeom>
          <a:solidFill>
            <a:srgbClr val="8C98CA"/>
          </a:solidFill>
          <a:ln/>
        </p:spPr>
      </p:sp>
      <p:sp>
        <p:nvSpPr>
          <p:cNvPr id="17" name="Text 15"/>
          <p:cNvSpPr/>
          <p:nvPr/>
        </p:nvSpPr>
        <p:spPr>
          <a:xfrm>
            <a:off x="793790" y="6164699"/>
            <a:ext cx="640794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During the 1980s, C gained widespread adoption in academia and industry.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7428548" y="5635347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Fraunces Light" pitchFamily="34" charset="0"/>
                <a:ea typeface="Fraunces Light" pitchFamily="34" charset="-122"/>
                <a:cs typeface="Fraunces Light" pitchFamily="34" charset="-120"/>
              </a:rPr>
              <a:t>06</a:t>
            </a:r>
            <a:endParaRPr lang="en-US" sz="1750" dirty="0"/>
          </a:p>
        </p:txBody>
      </p:sp>
      <p:sp>
        <p:nvSpPr>
          <p:cNvPr id="19" name="Shape 17"/>
          <p:cNvSpPr/>
          <p:nvPr/>
        </p:nvSpPr>
        <p:spPr>
          <a:xfrm>
            <a:off x="7428548" y="5990392"/>
            <a:ext cx="6408063" cy="30480"/>
          </a:xfrm>
          <a:prstGeom prst="rect">
            <a:avLst/>
          </a:prstGeom>
          <a:solidFill>
            <a:srgbClr val="8C98CA"/>
          </a:solidFill>
          <a:ln/>
        </p:spPr>
      </p:sp>
      <p:sp>
        <p:nvSpPr>
          <p:cNvPr id="20" name="Text 18"/>
          <p:cNvSpPr/>
          <p:nvPr/>
        </p:nvSpPr>
        <p:spPr>
          <a:xfrm>
            <a:off x="7428548" y="6164699"/>
            <a:ext cx="640806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To ensure consistency and portability, C was standardized as ANSI C (1989) and later as ISO C (1990).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26388"/>
            <a:ext cx="7614285" cy="637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0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Key Features of the C Language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93790" y="1631752"/>
            <a:ext cx="3122890" cy="3208377"/>
          </a:xfrm>
          <a:prstGeom prst="roundRect">
            <a:avLst>
              <a:gd name="adj" fmla="val 2746"/>
            </a:avLst>
          </a:prstGeom>
          <a:solidFill>
            <a:srgbClr val="283157"/>
          </a:solidFill>
          <a:ln w="7620">
            <a:solidFill>
              <a:srgbClr val="8C98C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5483" y="1843445"/>
            <a:ext cx="612338" cy="612338"/>
          </a:xfrm>
          <a:prstGeom prst="roundRect">
            <a:avLst>
              <a:gd name="adj" fmla="val 14931436"/>
            </a:avLst>
          </a:prstGeom>
          <a:solidFill>
            <a:srgbClr val="8C98CA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73837" y="2011799"/>
            <a:ext cx="275511" cy="27551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5483" y="2639497"/>
            <a:ext cx="2699504" cy="6376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Structured Programming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005483" y="3387328"/>
            <a:ext cx="2699504" cy="12411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C is a structured programming language that uses functions, loops, and conditions.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100393" y="1631752"/>
            <a:ext cx="3122890" cy="3208377"/>
          </a:xfrm>
          <a:prstGeom prst="roundRect">
            <a:avLst>
              <a:gd name="adj" fmla="val 2746"/>
            </a:avLst>
          </a:prstGeom>
          <a:solidFill>
            <a:srgbClr val="283157"/>
          </a:solidFill>
          <a:ln w="7620">
            <a:solidFill>
              <a:srgbClr val="8C98C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312087" y="1843445"/>
            <a:ext cx="612338" cy="612338"/>
          </a:xfrm>
          <a:prstGeom prst="roundRect">
            <a:avLst>
              <a:gd name="adj" fmla="val 14931436"/>
            </a:avLst>
          </a:prstGeom>
          <a:solidFill>
            <a:srgbClr val="8C98CA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480441" y="2011799"/>
            <a:ext cx="275511" cy="27551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312087" y="2639497"/>
            <a:ext cx="2660571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High Execution Speed</a:t>
            </a:r>
            <a:endParaRPr lang="en-US" sz="2000" dirty="0"/>
          </a:p>
        </p:txBody>
      </p:sp>
      <p:sp>
        <p:nvSpPr>
          <p:cNvPr id="12" name="Text 8"/>
          <p:cNvSpPr/>
          <p:nvPr/>
        </p:nvSpPr>
        <p:spPr>
          <a:xfrm>
            <a:off x="4312087" y="3068479"/>
            <a:ext cx="2699504" cy="620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It offers high execution speed and efficiency.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7406997" y="1631752"/>
            <a:ext cx="3122890" cy="3208377"/>
          </a:xfrm>
          <a:prstGeom prst="roundRect">
            <a:avLst>
              <a:gd name="adj" fmla="val 2746"/>
            </a:avLst>
          </a:prstGeom>
          <a:solidFill>
            <a:srgbClr val="283157"/>
          </a:solidFill>
          <a:ln w="7620">
            <a:solidFill>
              <a:srgbClr val="414A70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7618690" y="1843445"/>
            <a:ext cx="612338" cy="612338"/>
          </a:xfrm>
          <a:prstGeom prst="roundRect">
            <a:avLst>
              <a:gd name="adj" fmla="val 14931436"/>
            </a:avLst>
          </a:prstGeom>
          <a:solidFill>
            <a:srgbClr val="8C98CA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787045" y="2011799"/>
            <a:ext cx="275511" cy="275511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618690" y="2639497"/>
            <a:ext cx="2699504" cy="6376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Direct Memory Access</a:t>
            </a:r>
            <a:endParaRPr lang="en-US" sz="2000" dirty="0"/>
          </a:p>
        </p:txBody>
      </p:sp>
      <p:sp>
        <p:nvSpPr>
          <p:cNvPr id="17" name="Text 12"/>
          <p:cNvSpPr/>
          <p:nvPr/>
        </p:nvSpPr>
        <p:spPr>
          <a:xfrm>
            <a:off x="7618690" y="3387328"/>
            <a:ext cx="2699504" cy="620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C allows direct memory access using pointers.</a:t>
            </a:r>
            <a:endParaRPr lang="en-US" sz="1600" dirty="0"/>
          </a:p>
        </p:txBody>
      </p:sp>
      <p:sp>
        <p:nvSpPr>
          <p:cNvPr id="18" name="Shape 13"/>
          <p:cNvSpPr/>
          <p:nvPr/>
        </p:nvSpPr>
        <p:spPr>
          <a:xfrm>
            <a:off x="10713601" y="1631752"/>
            <a:ext cx="3123009" cy="3208377"/>
          </a:xfrm>
          <a:prstGeom prst="roundRect">
            <a:avLst>
              <a:gd name="adj" fmla="val 2745"/>
            </a:avLst>
          </a:prstGeom>
          <a:solidFill>
            <a:srgbClr val="283157"/>
          </a:solidFill>
          <a:ln w="7620">
            <a:solidFill>
              <a:srgbClr val="414A70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10925294" y="1843445"/>
            <a:ext cx="612338" cy="612338"/>
          </a:xfrm>
          <a:prstGeom prst="roundRect">
            <a:avLst>
              <a:gd name="adj" fmla="val 14931436"/>
            </a:avLst>
          </a:prstGeom>
          <a:solidFill>
            <a:srgbClr val="8C98CA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093648" y="2011799"/>
            <a:ext cx="275511" cy="275511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0925294" y="2639497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Portability</a:t>
            </a:r>
            <a:endParaRPr lang="en-US" sz="2000" dirty="0"/>
          </a:p>
        </p:txBody>
      </p:sp>
      <p:sp>
        <p:nvSpPr>
          <p:cNvPr id="22" name="Text 16"/>
          <p:cNvSpPr/>
          <p:nvPr/>
        </p:nvSpPr>
        <p:spPr>
          <a:xfrm>
            <a:off x="10925294" y="3068479"/>
            <a:ext cx="2699623" cy="9308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It is a portable language that runs on multiple platforms.</a:t>
            </a:r>
            <a:endParaRPr lang="en-US" sz="1600" dirty="0"/>
          </a:p>
        </p:txBody>
      </p:sp>
      <p:sp>
        <p:nvSpPr>
          <p:cNvPr id="23" name="Shape 17"/>
          <p:cNvSpPr/>
          <p:nvPr/>
        </p:nvSpPr>
        <p:spPr>
          <a:xfrm>
            <a:off x="793790" y="5023842"/>
            <a:ext cx="4225052" cy="2579251"/>
          </a:xfrm>
          <a:prstGeom prst="roundRect">
            <a:avLst>
              <a:gd name="adj" fmla="val 3324"/>
            </a:avLst>
          </a:prstGeom>
          <a:solidFill>
            <a:srgbClr val="283157"/>
          </a:solidFill>
          <a:ln w="7620">
            <a:solidFill>
              <a:srgbClr val="414A70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1005483" y="5235535"/>
            <a:ext cx="612338" cy="612338"/>
          </a:xfrm>
          <a:prstGeom prst="roundRect">
            <a:avLst>
              <a:gd name="adj" fmla="val 14931436"/>
            </a:avLst>
          </a:prstGeom>
          <a:solidFill>
            <a:srgbClr val="8C98CA"/>
          </a:solidFill>
          <a:ln/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73837" y="5403890"/>
            <a:ext cx="275511" cy="275511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005483" y="6031587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Rich Operators</a:t>
            </a:r>
            <a:endParaRPr lang="en-US" sz="2000" dirty="0"/>
          </a:p>
        </p:txBody>
      </p:sp>
      <p:sp>
        <p:nvSpPr>
          <p:cNvPr id="27" name="Text 20"/>
          <p:cNvSpPr/>
          <p:nvPr/>
        </p:nvSpPr>
        <p:spPr>
          <a:xfrm>
            <a:off x="1005483" y="6460569"/>
            <a:ext cx="3801666" cy="620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C provides a rich set of operators for various operations.</a:t>
            </a:r>
            <a:endParaRPr lang="en-US" sz="1600" dirty="0"/>
          </a:p>
        </p:txBody>
      </p:sp>
      <p:sp>
        <p:nvSpPr>
          <p:cNvPr id="28" name="Shape 21"/>
          <p:cNvSpPr/>
          <p:nvPr/>
        </p:nvSpPr>
        <p:spPr>
          <a:xfrm>
            <a:off x="5202555" y="5023842"/>
            <a:ext cx="4225171" cy="2579251"/>
          </a:xfrm>
          <a:prstGeom prst="roundRect">
            <a:avLst>
              <a:gd name="adj" fmla="val 3324"/>
            </a:avLst>
          </a:prstGeom>
          <a:solidFill>
            <a:srgbClr val="283157"/>
          </a:solidFill>
          <a:ln w="7620">
            <a:solidFill>
              <a:srgbClr val="414A70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5414248" y="5235535"/>
            <a:ext cx="612338" cy="612338"/>
          </a:xfrm>
          <a:prstGeom prst="roundRect">
            <a:avLst>
              <a:gd name="adj" fmla="val 14931436"/>
            </a:avLst>
          </a:prstGeom>
          <a:solidFill>
            <a:srgbClr val="8C98CA"/>
          </a:solidFill>
          <a:ln/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582603" y="5403890"/>
            <a:ext cx="275511" cy="275511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5414248" y="6031587"/>
            <a:ext cx="2806541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Modular Programming</a:t>
            </a:r>
            <a:endParaRPr lang="en-US" sz="2000" dirty="0"/>
          </a:p>
        </p:txBody>
      </p:sp>
      <p:sp>
        <p:nvSpPr>
          <p:cNvPr id="32" name="Text 24"/>
          <p:cNvSpPr/>
          <p:nvPr/>
        </p:nvSpPr>
        <p:spPr>
          <a:xfrm>
            <a:off x="5414248" y="6460569"/>
            <a:ext cx="3801785" cy="620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C supports modular programming for better code organization.</a:t>
            </a:r>
            <a:endParaRPr lang="en-US" sz="1600" dirty="0"/>
          </a:p>
        </p:txBody>
      </p:sp>
      <p:sp>
        <p:nvSpPr>
          <p:cNvPr id="33" name="Shape 25"/>
          <p:cNvSpPr/>
          <p:nvPr/>
        </p:nvSpPr>
        <p:spPr>
          <a:xfrm>
            <a:off x="9611439" y="5023842"/>
            <a:ext cx="4225171" cy="2579251"/>
          </a:xfrm>
          <a:prstGeom prst="roundRect">
            <a:avLst>
              <a:gd name="adj" fmla="val 3324"/>
            </a:avLst>
          </a:prstGeom>
          <a:solidFill>
            <a:srgbClr val="283157"/>
          </a:solidFill>
          <a:ln w="7620">
            <a:solidFill>
              <a:srgbClr val="414A70"/>
            </a:solidFill>
            <a:prstDash val="solid"/>
          </a:ln>
        </p:spPr>
      </p:sp>
      <p:sp>
        <p:nvSpPr>
          <p:cNvPr id="34" name="Shape 26"/>
          <p:cNvSpPr/>
          <p:nvPr/>
        </p:nvSpPr>
        <p:spPr>
          <a:xfrm>
            <a:off x="9823133" y="5235535"/>
            <a:ext cx="612338" cy="612338"/>
          </a:xfrm>
          <a:prstGeom prst="roundRect">
            <a:avLst>
              <a:gd name="adj" fmla="val 14931436"/>
            </a:avLst>
          </a:prstGeom>
          <a:solidFill>
            <a:srgbClr val="8C98CA"/>
          </a:solidFill>
          <a:ln/>
        </p:spPr>
      </p:sp>
      <p:pic>
        <p:nvPicPr>
          <p:cNvPr id="35" name="Image 6" descr="preencoded.png"/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9991487" y="5403890"/>
            <a:ext cx="275511" cy="275511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9823133" y="6031587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Standard Library</a:t>
            </a:r>
            <a:endParaRPr lang="en-US" sz="2000" dirty="0"/>
          </a:p>
        </p:txBody>
      </p:sp>
      <p:sp>
        <p:nvSpPr>
          <p:cNvPr id="37" name="Text 28"/>
          <p:cNvSpPr/>
          <p:nvPr/>
        </p:nvSpPr>
        <p:spPr>
          <a:xfrm>
            <a:off x="9823133" y="6460569"/>
            <a:ext cx="3801785" cy="9308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C includes a standard library for input/output and memory management.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31150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Why Is C Considered the </a:t>
            </a:r>
            <a:r>
              <a:rPr lang="en-US" sz="4450" dirty="0">
                <a:solidFill>
                  <a:srgbClr val="C6C9DC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Mother of All Programming Languages</a:t>
            </a:r>
            <a:r>
              <a:rPr lang="en-US" sz="44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?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842498"/>
            <a:ext cx="3090505" cy="2275880"/>
          </a:xfrm>
          <a:prstGeom prst="roundRect">
            <a:avLst>
              <a:gd name="adj" fmla="val 6428"/>
            </a:avLst>
          </a:prstGeom>
          <a:solidFill>
            <a:srgbClr val="080E26"/>
          </a:solidFill>
          <a:ln/>
        </p:spPr>
      </p:sp>
      <p:sp>
        <p:nvSpPr>
          <p:cNvPr id="4" name="Shape 2"/>
          <p:cNvSpPr/>
          <p:nvPr/>
        </p:nvSpPr>
        <p:spPr>
          <a:xfrm>
            <a:off x="793790" y="2812018"/>
            <a:ext cx="3090505" cy="121920"/>
          </a:xfrm>
          <a:prstGeom prst="roundRect">
            <a:avLst>
              <a:gd name="adj" fmla="val 78139"/>
            </a:avLst>
          </a:prstGeom>
          <a:solidFill>
            <a:srgbClr val="8C98CA"/>
          </a:solidFill>
          <a:ln/>
        </p:spPr>
      </p:sp>
      <p:sp>
        <p:nvSpPr>
          <p:cNvPr id="5" name="Shape 3"/>
          <p:cNvSpPr/>
          <p:nvPr/>
        </p:nvSpPr>
        <p:spPr>
          <a:xfrm>
            <a:off x="1998762" y="2502337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8C98CA"/>
          </a:solidFill>
          <a:ln/>
        </p:spPr>
      </p:sp>
      <p:sp>
        <p:nvSpPr>
          <p:cNvPr id="6" name="Text 4"/>
          <p:cNvSpPr/>
          <p:nvPr/>
        </p:nvSpPr>
        <p:spPr>
          <a:xfrm>
            <a:off x="1051084" y="3409474"/>
            <a:ext cx="2575917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C influenced the design of many modern programming languages.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4111109" y="2842498"/>
            <a:ext cx="3090624" cy="2275880"/>
          </a:xfrm>
          <a:prstGeom prst="roundRect">
            <a:avLst>
              <a:gd name="adj" fmla="val 6428"/>
            </a:avLst>
          </a:prstGeom>
          <a:solidFill>
            <a:srgbClr val="080E26"/>
          </a:solidFill>
          <a:ln/>
        </p:spPr>
      </p:sp>
      <p:sp>
        <p:nvSpPr>
          <p:cNvPr id="8" name="Shape 6"/>
          <p:cNvSpPr/>
          <p:nvPr/>
        </p:nvSpPr>
        <p:spPr>
          <a:xfrm>
            <a:off x="4111109" y="2812018"/>
            <a:ext cx="3090624" cy="121920"/>
          </a:xfrm>
          <a:prstGeom prst="roundRect">
            <a:avLst>
              <a:gd name="adj" fmla="val 78139"/>
            </a:avLst>
          </a:prstGeom>
          <a:solidFill>
            <a:srgbClr val="8C98CA"/>
          </a:solidFill>
          <a:ln/>
        </p:spPr>
      </p:sp>
      <p:sp>
        <p:nvSpPr>
          <p:cNvPr id="9" name="Shape 7"/>
          <p:cNvSpPr/>
          <p:nvPr/>
        </p:nvSpPr>
        <p:spPr>
          <a:xfrm>
            <a:off x="5316200" y="2502337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8C98CA"/>
          </a:solidFill>
          <a:ln/>
        </p:spPr>
      </p:sp>
      <p:sp>
        <p:nvSpPr>
          <p:cNvPr id="10" name="Text 8"/>
          <p:cNvSpPr/>
          <p:nvPr/>
        </p:nvSpPr>
        <p:spPr>
          <a:xfrm>
            <a:off x="4368403" y="3409474"/>
            <a:ext cx="257603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Several languages follow C-based syntax and structure.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7428548" y="2842498"/>
            <a:ext cx="3090624" cy="2275880"/>
          </a:xfrm>
          <a:prstGeom prst="roundRect">
            <a:avLst>
              <a:gd name="adj" fmla="val 6428"/>
            </a:avLst>
          </a:prstGeom>
          <a:solidFill>
            <a:srgbClr val="080E26"/>
          </a:solidFill>
          <a:ln/>
        </p:spPr>
      </p:sp>
      <p:sp>
        <p:nvSpPr>
          <p:cNvPr id="12" name="Shape 10"/>
          <p:cNvSpPr/>
          <p:nvPr/>
        </p:nvSpPr>
        <p:spPr>
          <a:xfrm>
            <a:off x="7428548" y="2812018"/>
            <a:ext cx="3090624" cy="121920"/>
          </a:xfrm>
          <a:prstGeom prst="roundRect">
            <a:avLst>
              <a:gd name="adj" fmla="val 78139"/>
            </a:avLst>
          </a:prstGeom>
          <a:solidFill>
            <a:srgbClr val="8C98CA"/>
          </a:solidFill>
          <a:ln/>
        </p:spPr>
      </p:sp>
      <p:sp>
        <p:nvSpPr>
          <p:cNvPr id="13" name="Shape 11"/>
          <p:cNvSpPr/>
          <p:nvPr/>
        </p:nvSpPr>
        <p:spPr>
          <a:xfrm>
            <a:off x="8633639" y="2502337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8C98CA"/>
          </a:solidFill>
          <a:ln/>
        </p:spPr>
      </p:sp>
      <p:sp>
        <p:nvSpPr>
          <p:cNvPr id="14" name="Text 12"/>
          <p:cNvSpPr/>
          <p:nvPr/>
        </p:nvSpPr>
        <p:spPr>
          <a:xfrm>
            <a:off x="7685842" y="3409474"/>
            <a:ext cx="2576036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C introduced key structured programming concepts.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10745986" y="2842498"/>
            <a:ext cx="3090624" cy="2275880"/>
          </a:xfrm>
          <a:prstGeom prst="roundRect">
            <a:avLst>
              <a:gd name="adj" fmla="val 6428"/>
            </a:avLst>
          </a:prstGeom>
          <a:solidFill>
            <a:srgbClr val="080E26"/>
          </a:solidFill>
          <a:ln/>
        </p:spPr>
      </p:sp>
      <p:sp>
        <p:nvSpPr>
          <p:cNvPr id="16" name="Shape 14"/>
          <p:cNvSpPr/>
          <p:nvPr/>
        </p:nvSpPr>
        <p:spPr>
          <a:xfrm>
            <a:off x="10745986" y="2812018"/>
            <a:ext cx="3090624" cy="121920"/>
          </a:xfrm>
          <a:prstGeom prst="roundRect">
            <a:avLst>
              <a:gd name="adj" fmla="val 78139"/>
            </a:avLst>
          </a:prstGeom>
          <a:solidFill>
            <a:srgbClr val="8C98CA"/>
          </a:solidFill>
          <a:ln/>
        </p:spPr>
      </p:sp>
      <p:sp>
        <p:nvSpPr>
          <p:cNvPr id="17" name="Shape 15"/>
          <p:cNvSpPr/>
          <p:nvPr/>
        </p:nvSpPr>
        <p:spPr>
          <a:xfrm>
            <a:off x="11951077" y="2502337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8C98CA"/>
          </a:solidFill>
          <a:ln/>
        </p:spPr>
      </p:sp>
      <p:sp>
        <p:nvSpPr>
          <p:cNvPr id="18" name="Text 16"/>
          <p:cNvSpPr/>
          <p:nvPr/>
        </p:nvSpPr>
        <p:spPr>
          <a:xfrm>
            <a:off x="11003280" y="3409474"/>
            <a:ext cx="257603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It allows direct control over memory and system resources.</a:t>
            </a:r>
            <a:endParaRPr lang="en-US" sz="1750" dirty="0"/>
          </a:p>
        </p:txBody>
      </p:sp>
      <p:sp>
        <p:nvSpPr>
          <p:cNvPr id="19" name="Shape 17"/>
          <p:cNvSpPr/>
          <p:nvPr/>
        </p:nvSpPr>
        <p:spPr>
          <a:xfrm>
            <a:off x="793790" y="5685353"/>
            <a:ext cx="3090505" cy="1912977"/>
          </a:xfrm>
          <a:prstGeom prst="roundRect">
            <a:avLst>
              <a:gd name="adj" fmla="val 7648"/>
            </a:avLst>
          </a:prstGeom>
          <a:solidFill>
            <a:srgbClr val="080E26"/>
          </a:solidFill>
          <a:ln/>
        </p:spPr>
      </p:sp>
      <p:sp>
        <p:nvSpPr>
          <p:cNvPr id="20" name="Shape 18"/>
          <p:cNvSpPr/>
          <p:nvPr/>
        </p:nvSpPr>
        <p:spPr>
          <a:xfrm>
            <a:off x="793790" y="5654873"/>
            <a:ext cx="3090505" cy="121920"/>
          </a:xfrm>
          <a:prstGeom prst="roundRect">
            <a:avLst>
              <a:gd name="adj" fmla="val 78139"/>
            </a:avLst>
          </a:prstGeom>
          <a:solidFill>
            <a:srgbClr val="8C98CA"/>
          </a:solidFill>
          <a:ln/>
        </p:spPr>
      </p:sp>
      <p:sp>
        <p:nvSpPr>
          <p:cNvPr id="21" name="Shape 19"/>
          <p:cNvSpPr/>
          <p:nvPr/>
        </p:nvSpPr>
        <p:spPr>
          <a:xfrm>
            <a:off x="1998762" y="5345192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8C98CA"/>
          </a:solidFill>
          <a:ln/>
        </p:spPr>
      </p:sp>
      <p:sp>
        <p:nvSpPr>
          <p:cNvPr id="22" name="Text 20"/>
          <p:cNvSpPr/>
          <p:nvPr/>
        </p:nvSpPr>
        <p:spPr>
          <a:xfrm>
            <a:off x="1051084" y="6252329"/>
            <a:ext cx="2575917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C is widely used in system and operating system development.</a:t>
            </a:r>
            <a:endParaRPr lang="en-US" sz="1750" dirty="0"/>
          </a:p>
        </p:txBody>
      </p:sp>
      <p:sp>
        <p:nvSpPr>
          <p:cNvPr id="23" name="Shape 21"/>
          <p:cNvSpPr/>
          <p:nvPr/>
        </p:nvSpPr>
        <p:spPr>
          <a:xfrm>
            <a:off x="4111109" y="5685353"/>
            <a:ext cx="3090624" cy="1912977"/>
          </a:xfrm>
          <a:prstGeom prst="roundRect">
            <a:avLst>
              <a:gd name="adj" fmla="val 7648"/>
            </a:avLst>
          </a:prstGeom>
          <a:solidFill>
            <a:srgbClr val="080E26"/>
          </a:solidFill>
          <a:ln/>
        </p:spPr>
      </p:sp>
      <p:sp>
        <p:nvSpPr>
          <p:cNvPr id="24" name="Shape 22"/>
          <p:cNvSpPr/>
          <p:nvPr/>
        </p:nvSpPr>
        <p:spPr>
          <a:xfrm>
            <a:off x="4111109" y="5654873"/>
            <a:ext cx="3090624" cy="121920"/>
          </a:xfrm>
          <a:prstGeom prst="roundRect">
            <a:avLst>
              <a:gd name="adj" fmla="val 78139"/>
            </a:avLst>
          </a:prstGeom>
          <a:solidFill>
            <a:srgbClr val="8C98CA"/>
          </a:solidFill>
          <a:ln/>
        </p:spPr>
      </p:sp>
      <p:sp>
        <p:nvSpPr>
          <p:cNvPr id="25" name="Shape 23"/>
          <p:cNvSpPr/>
          <p:nvPr/>
        </p:nvSpPr>
        <p:spPr>
          <a:xfrm>
            <a:off x="5316200" y="5345192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8C98CA"/>
          </a:solidFill>
          <a:ln/>
        </p:spPr>
      </p:sp>
      <p:sp>
        <p:nvSpPr>
          <p:cNvPr id="26" name="Text 24"/>
          <p:cNvSpPr/>
          <p:nvPr/>
        </p:nvSpPr>
        <p:spPr>
          <a:xfrm>
            <a:off x="4368403" y="6252329"/>
            <a:ext cx="257603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Many compilers and runtimes are written in C.</a:t>
            </a:r>
            <a:endParaRPr lang="en-US" sz="1750" dirty="0"/>
          </a:p>
        </p:txBody>
      </p:sp>
      <p:sp>
        <p:nvSpPr>
          <p:cNvPr id="27" name="Shape 25"/>
          <p:cNvSpPr/>
          <p:nvPr/>
        </p:nvSpPr>
        <p:spPr>
          <a:xfrm>
            <a:off x="7428548" y="5685353"/>
            <a:ext cx="3090624" cy="1912977"/>
          </a:xfrm>
          <a:prstGeom prst="roundRect">
            <a:avLst>
              <a:gd name="adj" fmla="val 7648"/>
            </a:avLst>
          </a:prstGeom>
          <a:solidFill>
            <a:srgbClr val="080E26"/>
          </a:solidFill>
          <a:ln/>
        </p:spPr>
      </p:sp>
      <p:sp>
        <p:nvSpPr>
          <p:cNvPr id="28" name="Shape 26"/>
          <p:cNvSpPr/>
          <p:nvPr/>
        </p:nvSpPr>
        <p:spPr>
          <a:xfrm>
            <a:off x="7428548" y="5654873"/>
            <a:ext cx="3090624" cy="121920"/>
          </a:xfrm>
          <a:prstGeom prst="roundRect">
            <a:avLst>
              <a:gd name="adj" fmla="val 78139"/>
            </a:avLst>
          </a:prstGeom>
          <a:solidFill>
            <a:srgbClr val="8C98CA"/>
          </a:solidFill>
          <a:ln/>
        </p:spPr>
      </p:sp>
      <p:sp>
        <p:nvSpPr>
          <p:cNvPr id="29" name="Shape 27"/>
          <p:cNvSpPr/>
          <p:nvPr/>
        </p:nvSpPr>
        <p:spPr>
          <a:xfrm>
            <a:off x="8633639" y="5345192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8C98CA"/>
          </a:solidFill>
          <a:ln/>
        </p:spPr>
      </p:sp>
      <p:sp>
        <p:nvSpPr>
          <p:cNvPr id="30" name="Text 28"/>
          <p:cNvSpPr/>
          <p:nvPr/>
        </p:nvSpPr>
        <p:spPr>
          <a:xfrm>
            <a:off x="7685842" y="6252329"/>
            <a:ext cx="257603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C connects low-level hardware operations with high-level logic.</a:t>
            </a:r>
            <a:endParaRPr lang="en-US" sz="1750" dirty="0"/>
          </a:p>
        </p:txBody>
      </p:sp>
      <p:sp>
        <p:nvSpPr>
          <p:cNvPr id="31" name="Shape 29"/>
          <p:cNvSpPr/>
          <p:nvPr/>
        </p:nvSpPr>
        <p:spPr>
          <a:xfrm>
            <a:off x="10745986" y="5685353"/>
            <a:ext cx="3090624" cy="1912977"/>
          </a:xfrm>
          <a:prstGeom prst="roundRect">
            <a:avLst>
              <a:gd name="adj" fmla="val 7648"/>
            </a:avLst>
          </a:prstGeom>
          <a:solidFill>
            <a:srgbClr val="080E26"/>
          </a:solidFill>
          <a:ln/>
        </p:spPr>
      </p:sp>
      <p:sp>
        <p:nvSpPr>
          <p:cNvPr id="32" name="Shape 30"/>
          <p:cNvSpPr/>
          <p:nvPr/>
        </p:nvSpPr>
        <p:spPr>
          <a:xfrm>
            <a:off x="10745986" y="5654873"/>
            <a:ext cx="3090624" cy="121920"/>
          </a:xfrm>
          <a:prstGeom prst="roundRect">
            <a:avLst>
              <a:gd name="adj" fmla="val 78139"/>
            </a:avLst>
          </a:prstGeom>
          <a:solidFill>
            <a:srgbClr val="8C98CA"/>
          </a:solidFill>
          <a:ln/>
        </p:spPr>
      </p:sp>
      <p:sp>
        <p:nvSpPr>
          <p:cNvPr id="33" name="Shape 31"/>
          <p:cNvSpPr/>
          <p:nvPr/>
        </p:nvSpPr>
        <p:spPr>
          <a:xfrm>
            <a:off x="11951077" y="5345192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8C98CA"/>
          </a:solidFill>
          <a:ln/>
        </p:spPr>
      </p:sp>
      <p:sp>
        <p:nvSpPr>
          <p:cNvPr id="34" name="Text 32"/>
          <p:cNvSpPr/>
          <p:nvPr/>
        </p:nvSpPr>
        <p:spPr>
          <a:xfrm>
            <a:off x="11003280" y="6252329"/>
            <a:ext cx="257603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C6C9DC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Learning C builds a strong foundation for other languages.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14713"/>
            <a:ext cx="699885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Why C Is Relevant Today?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677120"/>
            <a:ext cx="6407944" cy="1194673"/>
          </a:xfrm>
          <a:prstGeom prst="roundRect">
            <a:avLst>
              <a:gd name="adj" fmla="val 45568"/>
            </a:avLst>
          </a:prstGeom>
          <a:solidFill>
            <a:srgbClr val="283157"/>
          </a:solidFill>
          <a:ln w="7620">
            <a:solidFill>
              <a:srgbClr val="414A7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8224" y="2911554"/>
            <a:ext cx="593907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C is widely used in the development of operating system kernels.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7428548" y="2677120"/>
            <a:ext cx="6408063" cy="1194673"/>
          </a:xfrm>
          <a:prstGeom prst="roundRect">
            <a:avLst>
              <a:gd name="adj" fmla="val 45568"/>
            </a:avLst>
          </a:prstGeom>
          <a:solidFill>
            <a:srgbClr val="283157"/>
          </a:solidFill>
          <a:ln w="7620">
            <a:solidFill>
              <a:srgbClr val="414A7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62982" y="2911554"/>
            <a:ext cx="593919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It plays a crucial role in embedded systems and IoT devices.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793790" y="4098608"/>
            <a:ext cx="6407944" cy="1194673"/>
          </a:xfrm>
          <a:prstGeom prst="roundRect">
            <a:avLst>
              <a:gd name="adj" fmla="val 45568"/>
            </a:avLst>
          </a:prstGeom>
          <a:solidFill>
            <a:srgbClr val="283157"/>
          </a:solidFill>
          <a:ln w="7620">
            <a:solidFill>
              <a:srgbClr val="414A7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28224" y="4333042"/>
            <a:ext cx="593907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C is preferred for performance-critical and low-level applications.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7428548" y="4098608"/>
            <a:ext cx="6408063" cy="1194673"/>
          </a:xfrm>
          <a:prstGeom prst="roundRect">
            <a:avLst>
              <a:gd name="adj" fmla="val 45568"/>
            </a:avLst>
          </a:prstGeom>
          <a:solidFill>
            <a:srgbClr val="283157"/>
          </a:solidFill>
          <a:ln w="7620">
            <a:solidFill>
              <a:srgbClr val="414A7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62982" y="4333042"/>
            <a:ext cx="593919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Many modern languages and systems are built on C-based foundations.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793790" y="5520095"/>
            <a:ext cx="6407944" cy="1194673"/>
          </a:xfrm>
          <a:prstGeom prst="roundRect">
            <a:avLst>
              <a:gd name="adj" fmla="val 45568"/>
            </a:avLst>
          </a:prstGeom>
          <a:solidFill>
            <a:srgbClr val="283157"/>
          </a:solidFill>
          <a:ln w="7620">
            <a:solidFill>
              <a:srgbClr val="414A7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28224" y="5754529"/>
            <a:ext cx="593907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C provides a strong understanding of memory management and system architecture.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7428548" y="5520095"/>
            <a:ext cx="6408063" cy="1194673"/>
          </a:xfrm>
          <a:prstGeom prst="roundRect">
            <a:avLst>
              <a:gd name="adj" fmla="val 45568"/>
            </a:avLst>
          </a:prstGeom>
          <a:solidFill>
            <a:srgbClr val="283157"/>
          </a:solidFill>
          <a:ln w="7620">
            <a:solidFill>
              <a:srgbClr val="414A7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62982" y="5754529"/>
            <a:ext cx="593919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C6C9DC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It remains an essential language for teaching core programming fundamentals.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45118"/>
            <a:ext cx="836354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Applications of the C Language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3790" y="2107525"/>
            <a:ext cx="680442" cy="6804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307145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Operating Systems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3561874"/>
            <a:ext cx="41586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Used extensively in the development of operating systems such as UNIX and Linux.</a:t>
            </a:r>
            <a:endParaRPr lang="en-US" sz="1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35893" y="2107525"/>
            <a:ext cx="680442" cy="68044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35893" y="307145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Embedded Systems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5235893" y="3561874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Widely applied in embedded systems and microcontroller-based devices.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677995" y="2107525"/>
            <a:ext cx="680442" cy="68044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677995" y="3071455"/>
            <a:ext cx="339649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Compilers &amp; Interpreters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9677995" y="3561874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Utilized in the development of compilers and interpreters.</a:t>
            </a:r>
            <a:endParaRPr lang="en-US" sz="17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93790" y="5104209"/>
            <a:ext cx="680442" cy="68044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93790" y="606813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Game Engines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793790" y="6558558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Applied in game engines and graphics-intensive applications.</a:t>
            </a:r>
            <a:endParaRPr lang="en-US" sz="17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235893" y="5104209"/>
            <a:ext cx="680442" cy="680442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5235893" y="606813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Database Systems</a:t>
            </a:r>
            <a:endParaRPr lang="en-US" sz="2200" dirty="0"/>
          </a:p>
        </p:txBody>
      </p:sp>
      <p:sp>
        <p:nvSpPr>
          <p:cNvPr id="17" name="Text 10"/>
          <p:cNvSpPr/>
          <p:nvPr/>
        </p:nvSpPr>
        <p:spPr>
          <a:xfrm>
            <a:off x="5235893" y="6558558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Used for database systems requiring high performance and efficiency.</a:t>
            </a:r>
            <a:endParaRPr lang="en-US" sz="175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677995" y="5104209"/>
            <a:ext cx="680442" cy="680442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9677995" y="606813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GUI</a:t>
            </a:r>
            <a:endParaRPr lang="en-US" sz="2200" dirty="0"/>
          </a:p>
        </p:txBody>
      </p:sp>
      <p:sp>
        <p:nvSpPr>
          <p:cNvPr id="20" name="Text 12"/>
          <p:cNvSpPr/>
          <p:nvPr/>
        </p:nvSpPr>
        <p:spPr>
          <a:xfrm>
            <a:off x="9677995" y="6558558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C languages is used intensively in GUI applications and graphics.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07613"/>
            <a:ext cx="1078277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Conclusion - </a:t>
            </a:r>
            <a:r>
              <a:rPr lang="en-US" sz="4450" dirty="0">
                <a:solidFill>
                  <a:srgbClr val="C6C9DC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C: Mother of All Languages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070021"/>
            <a:ext cx="13042821" cy="868918"/>
          </a:xfrm>
          <a:prstGeom prst="roundRect">
            <a:avLst>
              <a:gd name="adj" fmla="val 10964"/>
            </a:avLst>
          </a:prstGeom>
          <a:solidFill>
            <a:srgbClr val="080E26"/>
          </a:solidFill>
          <a:ln w="30480">
            <a:solidFill>
              <a:srgbClr val="414A7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51084" y="2327315"/>
            <a:ext cx="613183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Built the foundation of modern programming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93790" y="3165753"/>
            <a:ext cx="13042821" cy="868918"/>
          </a:xfrm>
          <a:prstGeom prst="roundRect">
            <a:avLst>
              <a:gd name="adj" fmla="val 10964"/>
            </a:avLst>
          </a:prstGeom>
          <a:solidFill>
            <a:srgbClr val="080E26"/>
          </a:solidFill>
          <a:ln w="30480">
            <a:solidFill>
              <a:srgbClr val="414A7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084" y="3423047"/>
            <a:ext cx="660427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Introduced core concepts used everywhere today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793790" y="4261485"/>
            <a:ext cx="13042821" cy="868918"/>
          </a:xfrm>
          <a:prstGeom prst="roundRect">
            <a:avLst>
              <a:gd name="adj" fmla="val 10964"/>
            </a:avLst>
          </a:prstGeom>
          <a:solidFill>
            <a:srgbClr val="080E26"/>
          </a:solidFill>
          <a:ln w="30480">
            <a:solidFill>
              <a:srgbClr val="414A7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084" y="4518779"/>
            <a:ext cx="753129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Powers systems, compilers, and embedded technologies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793790" y="5357217"/>
            <a:ext cx="13042821" cy="868918"/>
          </a:xfrm>
          <a:prstGeom prst="roundRect">
            <a:avLst>
              <a:gd name="adj" fmla="val 10964"/>
            </a:avLst>
          </a:prstGeom>
          <a:solidFill>
            <a:srgbClr val="080E26"/>
          </a:solidFill>
          <a:ln w="30480">
            <a:solidFill>
              <a:srgbClr val="414A7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084" y="5614511"/>
            <a:ext cx="645247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Influenced languages like C++, Java, and Python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793790" y="6452949"/>
            <a:ext cx="13042821" cy="868918"/>
          </a:xfrm>
          <a:prstGeom prst="roundRect">
            <a:avLst>
              <a:gd name="adj" fmla="val 10964"/>
            </a:avLst>
          </a:prstGeom>
          <a:solidFill>
            <a:srgbClr val="080E26"/>
          </a:solidFill>
          <a:ln w="30480">
            <a:solidFill>
              <a:srgbClr val="414A7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084" y="6710243"/>
            <a:ext cx="768417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C6C9DC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Remains timeless for learning true programming logic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3213140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3" name="Text 1"/>
          <p:cNvSpPr/>
          <p:nvPr/>
        </p:nvSpPr>
        <p:spPr>
          <a:xfrm>
            <a:off x="793790" y="3802856"/>
            <a:ext cx="11341298" cy="1417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150"/>
              </a:lnSpc>
              <a:buNone/>
            </a:pPr>
            <a:r>
              <a:rPr lang="en-US" sz="8900" dirty="0">
                <a:solidFill>
                  <a:srgbClr val="C6C9DC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Thank you!</a:t>
            </a:r>
            <a:endParaRPr lang="en-US" sz="8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645</Words>
  <Application>Microsoft Office PowerPoint</Application>
  <PresentationFormat>Custom</PresentationFormat>
  <Paragraphs>89</Paragraphs>
  <Slides>9</Slides>
  <Notes>9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Noureen Tak</cp:lastModifiedBy>
  <cp:revision>7</cp:revision>
  <dcterms:created xsi:type="dcterms:W3CDTF">2026-03-02T17:38:44Z</dcterms:created>
  <dcterms:modified xsi:type="dcterms:W3CDTF">2026-03-02T17:54:43Z</dcterms:modified>
</cp:coreProperties>
</file>